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00" cy="4754880"/>
          </a:xfrm>
          <a:prstGeom prst="rect">
            <a:avLst/>
          </a:prstGeom>
          <a:solidFill>
            <a:srgbClr val="0D1B3E"/>
          </a:solidFill>
          <a:ln w="2540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职位智能推荐与</a:t>
            </a:r>
          </a:p>
          <a:p>
            <a:pPr algn="l"/>
            <a:r>
              <a:rPr sz="3400" b="1">
                <a:solidFill>
                  <a:srgbClr val="FFC830"/>
                </a:solidFill>
                <a:latin typeface="Calibri"/>
              </a:rPr>
              <a:t>精准排序系统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0FF"/>
                </a:solidFill>
                <a:latin typeface="Calibri"/>
              </a:rPr>
              <a:t>混合语义 + 结构化特征精排管线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数据科学团队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914400"/>
            <a:ext cx="2651760" cy="1371600"/>
          </a:xfrm>
          <a:prstGeom prst="rect">
            <a:avLst/>
          </a:prstGeom>
          <a:solidFill>
            <a:srgbClr val="0F3B82"/>
          </a:solidFill>
          <a:ln w="1270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9601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F"/>
                </a:solidFill>
                <a:latin typeface="Calibri"/>
              </a:rPr>
              <a:t>测试 </a:t>
            </a:r>
            <a:r>
              <a:rPr sz="1000" b="0">
                <a:solidFill>
                  <a:srgbClr val="E8F0FF"/>
                </a:solidFill>
                <a:latin typeface="Calibri"/>
              </a:rPr>
              <a:t>NDCG</a:t>
            </a:r>
          </a:p>
          <a:p>
            <a:pPr algn="ctr"/>
            <a:r>
              <a:rPr sz="2000" b="1">
                <a:solidFill>
                  <a:srgbClr val="FFC830"/>
                </a:solidFill>
                <a:latin typeface="Calibri"/>
              </a:rPr>
              <a:t>0.9657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+1.4% vs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468880"/>
            <a:ext cx="2651760" cy="1371600"/>
          </a:xfrm>
          <a:prstGeom prst="rect">
            <a:avLst/>
          </a:prstGeom>
          <a:solidFill>
            <a:srgbClr val="0F3B82"/>
          </a:solidFill>
          <a:ln w="1270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514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F"/>
                </a:solidFill>
                <a:latin typeface="Calibri"/>
              </a:rPr>
              <a:t>核心驱动特征</a:t>
            </a:r>
          </a:p>
          <a:p>
            <a:pPr algn="ctr"/>
            <a:r>
              <a:rPr sz="2000" b="1">
                <a:solidFill>
                  <a:srgbClr val="FFC830"/>
                </a:solidFill>
                <a:latin typeface="Calibri"/>
              </a:rPr>
              <a:t>ind_match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LIME</a:t>
            </a:r>
            <a:r>
              <a:rPr sz="1000" b="0">
                <a:solidFill>
                  <a:srgbClr val="FFFFFF"/>
                </a:solidFill>
                <a:latin typeface="Calibri"/>
              </a:rPr>
              <a:t> weight +2.75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4023360"/>
            <a:ext cx="2651760" cy="1371600"/>
          </a:xfrm>
          <a:prstGeom prst="rect">
            <a:avLst/>
          </a:prstGeom>
          <a:solidFill>
            <a:srgbClr val="0F3B82"/>
          </a:solidFill>
          <a:ln w="1270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0690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F"/>
                </a:solidFill>
                <a:latin typeface="Calibri"/>
              </a:rPr>
              <a:t>特征空间维度</a:t>
            </a:r>
          </a:p>
          <a:p>
            <a:pPr algn="ctr"/>
            <a:r>
              <a:rPr sz="2000" b="1">
                <a:solidFill>
                  <a:srgbClr val="FFC830"/>
                </a:solidFill>
                <a:latin typeface="Calibri"/>
              </a:rPr>
              <a:t>60 dims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 struct + 50 </a:t>
            </a:r>
            <a:r>
              <a:rPr sz="1000" b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业务目标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为什么做这个项目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365760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核心痛点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3657600" cy="41605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关键词匹配无法捕捉语义差异："数据分析" 与 "Data Analysis" 在精确搜索中被视为不同词。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结构化信号（职级、薪资、城市）无法与文本特征进行联合优化。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黑盒评分无法向招聘方解释推荐原因——削弱了对自动化推荐系统的信任。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54480"/>
            <a:ext cx="365760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65960"/>
            <a:ext cx="3657600" cy="41605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混合管线：在单一 </a:t>
            </a:r>
            <a:r>
              <a:rPr sz="11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100" b="0">
                <a:solidFill>
                  <a:srgbClr val="FFFFFF"/>
                </a:solidFill>
                <a:latin typeface="Calibri"/>
              </a:rPr>
              <a:t> 模型中融合结构化特征与语义嵌入。</a:t>
            </a:r>
          </a:p>
          <a:p>
            <a:pPr algn="l"/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LambdaMART</a:t>
            </a:r>
            <a:r>
              <a:rPr sz="1100" b="0">
                <a:solidFill>
                  <a:srgbClr val="FFFFFF"/>
                </a:solidFill>
                <a:latin typeface="Calibri"/>
              </a:rPr>
              <a:t> 直接优化 </a:t>
            </a:r>
            <a:r>
              <a:rPr sz="1100" b="1">
                <a:solidFill>
                  <a:srgbClr val="FFFFFF"/>
                </a:solidFill>
                <a:latin typeface="Calibri"/>
              </a:rPr>
              <a:t>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排序质量指标，而非替代损失函数。</a:t>
            </a:r>
          </a:p>
          <a:p>
            <a:pPr algn="l"/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LIME</a:t>
            </a:r>
            <a:r>
              <a:rPr sz="1100" b="0">
                <a:solidFill>
                  <a:srgbClr val="FFFFFF"/>
                </a:solidFill>
                <a:latin typeface="Calibri"/>
              </a:rPr>
              <a:t> 局部归因为每条预测结果生成可操作的解释，供招聘方参考。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840480" cy="41148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成功指标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65960"/>
            <a:ext cx="3840480" cy="41605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测试集 </a:t>
            </a:r>
            <a:r>
              <a:rPr sz="1100" b="1">
                <a:solidFill>
                  <a:srgbClr val="FFFFFF"/>
                </a:solidFill>
                <a:latin typeface="Calibri"/>
              </a:rPr>
              <a:t>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= 0.9657（相比 </a:t>
            </a:r>
            <a:r>
              <a:rPr sz="1100" b="1">
                <a:solidFill>
                  <a:srgbClr val="FFFFFF"/>
                </a:solidFill>
                <a:latin typeface="Calibri"/>
              </a:rPr>
              <a:t>RandomForest</a:t>
            </a:r>
            <a:r>
              <a:rPr sz="1100" b="0">
                <a:solidFill>
                  <a:srgbClr val="FFFFFF"/>
                </a:solidFill>
                <a:latin typeface="Calibri"/>
              </a:rPr>
              <a:t> 基线 0.9520，提升 +1.4%）。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行业匹配特征 </a:t>
            </a:r>
            <a:r>
              <a:rPr sz="1100" b="1">
                <a:solidFill>
                  <a:srgbClr val="FFFFFF"/>
                </a:solidFill>
                <a:latin typeface="Calibri"/>
              </a:rPr>
              <a:t>ind_match</a:t>
            </a:r>
            <a:r>
              <a:rPr sz="1100" b="0">
                <a:solidFill>
                  <a:srgbClr val="FFFFFF"/>
                </a:solidFill>
                <a:latin typeface="Calibri"/>
              </a:rPr>
              <a:t> 经 </a:t>
            </a:r>
            <a:r>
              <a:rPr sz="1100" b="1">
                <a:solidFill>
                  <a:srgbClr val="FFFFFF"/>
                </a:solidFill>
                <a:latin typeface="Calibri"/>
              </a:rPr>
              <a:t>LIME</a:t>
            </a:r>
            <a:r>
              <a:rPr sz="1100" b="0">
                <a:solidFill>
                  <a:srgbClr val="FFFFFF"/>
                </a:solidFill>
                <a:latin typeface="Calibri"/>
              </a:rPr>
              <a:t> 验证为首要驱动因素，权重 +2.75。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全部 Top-3 预测均附带稳定、可读的 </a:t>
            </a:r>
            <a:r>
              <a:rPr sz="1100" b="1">
                <a:solidFill>
                  <a:srgbClr val="FFFFFF"/>
                </a:solidFill>
                <a:latin typeface="Calibri"/>
              </a:rPr>
              <a:t>LIME</a:t>
            </a:r>
            <a:r>
              <a:rPr sz="1100" b="0">
                <a:solidFill>
                  <a:srgbClr val="FFFFFF"/>
                </a:solidFill>
                <a:latin typeface="Calibri"/>
              </a:rPr>
              <a:t> 归因图表。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项目整体流程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端到端管线 — 4个阶段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286000" cy="3474720"/>
          </a:xfrm>
          <a:prstGeom prst="rect">
            <a:avLst/>
          </a:prstGeom>
          <a:solidFill>
            <a:srgbClr val="0F3B82"/>
          </a:solidFill>
          <a:ln w="1905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
数据
采集</a:t>
            </a:r>
          </a:p>
          <a:p>
            <a:pPr algn="ctr"/>
          </a:p>
          <a:p>
            <a:pPr algn="ctr"/>
            <a:r>
              <a:rPr sz="1200" b="1">
                <a:solidFill>
                  <a:srgbClr val="E8F0FF"/>
                </a:solidFill>
                <a:latin typeface="Calibri"/>
              </a:rPr>
              <a:t>CRM</a:t>
            </a:r>
            <a:r>
              <a:rPr sz="1200" b="0">
                <a:solidFill>
                  <a:srgbClr val="E8F0FF"/>
                </a:solidFill>
                <a:latin typeface="Calibri"/>
              </a:rPr>
              <a:t> 导出
字段映射
标签定义</a:t>
            </a:r>
          </a:p>
        </p:txBody>
      </p:sp>
      <p:sp>
        <p:nvSpPr>
          <p:cNvPr id="9" name="Can 8"/>
          <p:cNvSpPr/>
          <p:nvPr/>
        </p:nvSpPr>
        <p:spPr>
          <a:xfrm>
            <a:off x="2788920" y="2651760"/>
            <a:ext cx="365760" cy="640080"/>
          </a:xfrm>
          <a:prstGeom prst="can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645920"/>
            <a:ext cx="2286000" cy="3474720"/>
          </a:xfrm>
          <a:prstGeom prst="rect">
            <a:avLst/>
          </a:prstGeom>
          <a:solidFill>
            <a:srgbClr val="095AA8"/>
          </a:solidFill>
          <a:ln w="1905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6459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
语义
建模</a:t>
            </a:r>
          </a:p>
          <a:p>
            <a:pPr algn="ctr"/>
          </a:p>
          <a:p>
            <a:pPr algn="ctr"/>
            <a:r>
              <a:rPr sz="1200" b="1">
                <a:solidFill>
                  <a:srgbClr val="E8F0FF"/>
                </a:solidFill>
                <a:latin typeface="Calibri"/>
              </a:rPr>
              <a:t>TF-IDF</a:t>
            </a:r>
            <a:r>
              <a:rPr sz="1200" b="0">
                <a:solidFill>
                  <a:srgbClr val="E8F0FF"/>
                </a:solidFill>
                <a:latin typeface="Calibri"/>
              </a:rPr>
              <a:t> + SVD
</a:t>
            </a:r>
            <a:r>
              <a:rPr sz="1200" b="1">
                <a:solidFill>
                  <a:srgbClr val="E8F0FF"/>
                </a:solidFill>
                <a:latin typeface="Calibri"/>
              </a:rPr>
              <a:t>LSA</a:t>
            </a:r>
            <a:r>
              <a:rPr sz="1200" b="0">
                <a:solidFill>
                  <a:srgbClr val="E8F0FF"/>
                </a:solidFill>
                <a:latin typeface="Calibri"/>
              </a:rPr>
              <a:t> 嵌入
</a:t>
            </a:r>
            <a:r>
              <a:rPr sz="1200" b="1">
                <a:solidFill>
                  <a:srgbClr val="E8F0FF"/>
                </a:solidFill>
                <a:latin typeface="Calibri"/>
              </a:rPr>
              <a:t>sem_sim</a:t>
            </a:r>
            <a:r>
              <a:rPr sz="1200" b="0">
                <a:solidFill>
                  <a:srgbClr val="E8F0FF"/>
                </a:solidFill>
                <a:latin typeface="Calibri"/>
              </a:rPr>
              <a:t> 特征</a:t>
            </a:r>
          </a:p>
        </p:txBody>
      </p:sp>
      <p:sp>
        <p:nvSpPr>
          <p:cNvPr id="12" name="Can 11"/>
          <p:cNvSpPr/>
          <p:nvPr/>
        </p:nvSpPr>
        <p:spPr>
          <a:xfrm>
            <a:off x="5486400" y="2651760"/>
            <a:ext cx="365760" cy="640080"/>
          </a:xfrm>
          <a:prstGeom prst="can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645920"/>
            <a:ext cx="2286000" cy="3474720"/>
          </a:xfrm>
          <a:prstGeom prst="rect">
            <a:avLst/>
          </a:prstGeom>
          <a:solidFill>
            <a:srgbClr val="073675"/>
          </a:solidFill>
          <a:ln w="1905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6459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
精准
排序</a:t>
            </a:r>
          </a:p>
          <a:p>
            <a:pPr algn="ctr"/>
          </a:p>
          <a:p>
            <a:pPr algn="ctr"/>
            <a:r>
              <a:rPr sz="1200" b="1">
                <a:solidFill>
                  <a:srgbClr val="E8F0FF"/>
                </a:solidFill>
                <a:latin typeface="Calibri"/>
              </a:rPr>
              <a:t>XGBRanker</a:t>
            </a:r>
            <a:r>
              <a:rPr sz="1200" b="0">
                <a:solidFill>
                  <a:srgbClr val="E8F0FF"/>
                </a:solidFill>
                <a:latin typeface="Calibri"/>
              </a:rPr>
              <a:t>
</a:t>
            </a:r>
            <a:r>
              <a:rPr sz="1200" b="1">
                <a:solidFill>
                  <a:srgbClr val="E8F0FF"/>
                </a:solidFill>
                <a:latin typeface="Calibri"/>
              </a:rPr>
              <a:t>LambdaMART</a:t>
            </a:r>
            <a:r>
              <a:rPr sz="1200" b="0">
                <a:solidFill>
                  <a:srgbClr val="E8F0FF"/>
                </a:solidFill>
                <a:latin typeface="Calibri"/>
              </a:rPr>
              <a:t>
</a:t>
            </a:r>
            <a:r>
              <a:rPr sz="1200" b="1">
                <a:solidFill>
                  <a:srgbClr val="E8F0FF"/>
                </a:solidFill>
                <a:latin typeface="Calibri"/>
              </a:rPr>
              <a:t>NDCG</a:t>
            </a:r>
            <a:r>
              <a:rPr sz="1200" b="0">
                <a:solidFill>
                  <a:srgbClr val="E8F0FF"/>
                </a:solidFill>
                <a:latin typeface="Calibri"/>
              </a:rPr>
              <a:t> 优化</a:t>
            </a:r>
          </a:p>
        </p:txBody>
      </p:sp>
      <p:sp>
        <p:nvSpPr>
          <p:cNvPr id="15" name="Can 14"/>
          <p:cNvSpPr/>
          <p:nvPr/>
        </p:nvSpPr>
        <p:spPr>
          <a:xfrm>
            <a:off x="8183880" y="2651760"/>
            <a:ext cx="365760" cy="640080"/>
          </a:xfrm>
          <a:prstGeom prst="can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645920"/>
            <a:ext cx="2286000" cy="3474720"/>
          </a:xfrm>
          <a:prstGeom prst="rect">
            <a:avLst/>
          </a:prstGeom>
          <a:solidFill>
            <a:srgbClr val="EA8C00"/>
          </a:solidFill>
          <a:ln w="1905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459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
可解释
AI</a:t>
            </a:r>
          </a:p>
          <a:p>
            <a:pPr algn="ctr"/>
          </a:p>
          <a:p>
            <a:pPr algn="ctr"/>
            <a:r>
              <a:rPr sz="1200" b="1">
                <a:solidFill>
                  <a:srgbClr val="E8F0FF"/>
                </a:solidFill>
                <a:latin typeface="Calibri"/>
              </a:rPr>
              <a:t>LIME</a:t>
            </a:r>
            <a:r>
              <a:rPr sz="1200" b="0">
                <a:solidFill>
                  <a:srgbClr val="E8F0FF"/>
                </a:solidFill>
                <a:latin typeface="Calibri"/>
              </a:rPr>
              <a:t> 归因
特征重要性
关键词热力图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349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数据来源：企业 </a:t>
            </a:r>
            <a:r>
              <a:rPr sz="1100" b="0">
                <a:solidFill>
                  <a:srgbClr val="AAAAAA"/>
                </a:solidFill>
                <a:latin typeface="Calibri"/>
              </a:rPr>
              <a:t>CRM</a:t>
            </a:r>
            <a:r>
              <a:rPr sz="1100" b="0">
                <a:solidFill>
                  <a:srgbClr val="AAAAAA"/>
                </a:solidFill>
                <a:latin typeface="Calibri"/>
              </a:rPr>
              <a:t> 系统  |  df_jd（2,000 条职位）+ df_struct（5,000 名候选人）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企业 </a:t>
            </a:r>
            <a:r>
              <a:rPr sz="1400" b="0">
                <a:solidFill>
                  <a:srgbClr val="FFC830"/>
                </a:solidFill>
                <a:latin typeface="Calibri"/>
              </a:rPr>
              <a:t>CRM</a:t>
            </a:r>
            <a:r>
              <a:rPr sz="1400" b="0">
                <a:solidFill>
                  <a:srgbClr val="FFC830"/>
                </a:solidFill>
                <a:latin typeface="Calibri"/>
              </a:rPr>
              <a:t> 系统导出 — 已脱敏处理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39496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df_jd  —  职位语料库（2,000 条记录）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394960" cy="4251959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jid / Industry / 职位名称 / job_level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base_location / salary / salary_mid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Skills / edu_req / exp_req / working_hours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jd_text  →  用于语义编码的完整职位描述文本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覆盖范围：12 个行业 · 120 个职位类型 · 14 个城市 · 8 个职级层次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5943600" cy="411480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df_struct  —  候选人档案（5,000 条记录）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65960"/>
            <a:ext cx="5943600" cy="4251959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uid / years_experience / expected_salary_k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job_level / industry / city / education_level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skills / expected_title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education_ordinal / job_level_ordinal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ground_truth_jd_id  →  </a:t>
            </a:r>
            <a:r>
              <a:rPr sz="1100" b="1">
                <a:solidFill>
                  <a:srgbClr val="FFFFFF"/>
                </a:solidFill>
                <a:latin typeface="Calibri"/>
              </a:rPr>
              <a:t>CRM</a:t>
            </a:r>
            <a:r>
              <a:rPr sz="1100" b="0">
                <a:solidFill>
                  <a:srgbClr val="FFFFFF"/>
                </a:solidFill>
                <a:latin typeface="Calibri"/>
              </a:rPr>
              <a:t> 记录的最终投递目标职位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缺失率：薪资 8% · 城市 7% · 学历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60 维混合特征矩阵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429768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特征组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08760"/>
            <a:ext cx="2926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特征名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08760"/>
            <a:ext cx="5943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构建逻辑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38528"/>
            <a:ext cx="116128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965960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语义 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65960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sem_sim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65960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TF-IDF</a:t>
            </a:r>
            <a:r>
              <a:rPr sz="1000" b="0">
                <a:solidFill>
                  <a:srgbClr val="FFFFFF"/>
                </a:solidFill>
                <a:latin typeface="Calibri"/>
              </a:rPr>
              <a:t> + SVD 余弦相似度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68296"/>
            <a:ext cx="11612880" cy="4297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95727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地理 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395727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loc_match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95727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城市是否匹配  →  二值 0/1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98064"/>
            <a:ext cx="116128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825496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职级 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25496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level_diff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25496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职级序数绝对差值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27832"/>
            <a:ext cx="11612880" cy="4297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255264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薪资 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255264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sal_diff_pct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55264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|职位薪资 − 期望薪资| / 期望薪资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57600"/>
            <a:ext cx="116128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685032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学历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85032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edu_meets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85032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user_edu_ord ≥ jd_edu_ord  →  0/1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87368"/>
            <a:ext cx="11612880" cy="4297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114800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行业 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114800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ind_match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114800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目标行业 == 职位行业  0/1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17136"/>
            <a:ext cx="116128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544568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薪资原始 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544568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salary_mid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544568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职位薪资中位值（k 元/月）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946904"/>
            <a:ext cx="11612880" cy="4297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974336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技能 </a:t>
            </a:r>
            <a:r>
              <a:rPr sz="1000" b="1">
                <a:solidFill>
                  <a:srgbClr val="FFFFFF"/>
                </a:solidFill>
                <a:latin typeface="Calibri"/>
              </a:rPr>
              <a:t>TF-IDF</a:t>
            </a:r>
            <a:r>
              <a:rPr sz="1000" b="0">
                <a:solidFill>
                  <a:srgbClr val="FFFFFF"/>
                </a:solidFill>
                <a:latin typeface="Calibri"/>
              </a:rPr>
              <a:t> (50)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974336"/>
            <a:ext cx="2926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skill_0…49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974336"/>
            <a:ext cx="5943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职位技能向量化 — 高频词汇表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449824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830"/>
                </a:solidFill>
                <a:latin typeface="Calibri"/>
              </a:rPr>
              <a:t>薪资单位对齐：expected_salary_k（万/年）× 10 / 12  =  k/月（与 salary_mid 单位一致）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标签工程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从 </a:t>
            </a:r>
            <a:r>
              <a:rPr sz="1400" b="0">
                <a:solidFill>
                  <a:srgbClr val="FFC830"/>
                </a:solidFill>
                <a:latin typeface="Calibri"/>
              </a:rPr>
              <a:t>CRM</a:t>
            </a:r>
            <a:r>
              <a:rPr sz="1400" b="0">
                <a:solidFill>
                  <a:srgbClr val="FFC830"/>
                </a:solidFill>
                <a:latin typeface="Calibri"/>
              </a:rPr>
              <a:t> 行为日志到排序标签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0FF"/>
                </a:solidFill>
                <a:latin typeface="Calibri"/>
              </a:rPr>
              <a:t>CRM</a:t>
            </a:r>
            <a:r>
              <a:rPr sz="1300" b="0">
                <a:solidFill>
                  <a:srgbClr val="E8F0FF"/>
                </a:solidFill>
                <a:latin typeface="Calibri"/>
              </a:rPr>
              <a:t> 交互记录被映射为整数相关性标签 y ∈ {0, 1, 2, 3}，作为 </a:t>
            </a:r>
            <a:r>
              <a:rPr sz="1300" b="1">
                <a:solidFill>
                  <a:srgbClr val="E8F0FF"/>
                </a:solidFill>
                <a:latin typeface="Calibri"/>
              </a:rPr>
              <a:t>XGBRanker</a:t>
            </a:r>
            <a:r>
              <a:rPr sz="1300" b="0">
                <a:solidFill>
                  <a:srgbClr val="E8F0FF"/>
                </a:solidFill>
                <a:latin typeface="Calibri"/>
              </a:rPr>
              <a:t> 的训练目标。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822960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4884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投递(Apply)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3288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F"/>
                </a:solidFill>
                <a:latin typeface="Calibri"/>
              </a:rPr>
              <a:t>最强正向信号 — 候选人已提交申请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82296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15468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收藏(Favourite)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3872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F"/>
                </a:solidFill>
                <a:latin typeface="Calibri"/>
              </a:rPr>
              <a:t>强正向信号 — 候选人已收藏该职位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60520"/>
            <a:ext cx="822960" cy="77724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16052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点击(Click)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4456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F"/>
                </a:solidFill>
                <a:latin typeface="Calibri"/>
              </a:rPr>
              <a:t>弱正向信号 — 候选人已查看职位详情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66360"/>
            <a:ext cx="82296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1663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未操作(No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5040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F"/>
                </a:solidFill>
                <a:latin typeface="Calibri"/>
              </a:rPr>
              <a:t>中性/负向信号 — 曝光后无任何互动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标签分布：未操作 2,000  ·  点击 1,500  ·  收藏 1,000  ·  投递 500（500 名候选人 × 每人 10 条职位）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语义建模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TF-IDF</a:t>
            </a:r>
            <a:r>
              <a:rPr sz="1400" b="0">
                <a:solidFill>
                  <a:srgbClr val="FFC830"/>
                </a:solidFill>
                <a:latin typeface="Calibri"/>
              </a:rPr>
              <a:t> + SVD（</a:t>
            </a:r>
            <a:r>
              <a:rPr sz="1400" b="0">
                <a:solidFill>
                  <a:srgbClr val="FFC830"/>
                </a:solidFill>
                <a:latin typeface="Calibri"/>
              </a:rPr>
              <a:t>LSA</a:t>
            </a:r>
            <a:r>
              <a:rPr sz="1400" b="0">
                <a:solidFill>
                  <a:srgbClr val="FFC830"/>
                </a:solidFill>
                <a:latin typeface="Calibri"/>
              </a:rPr>
              <a:t>）— 支持 </a:t>
            </a:r>
            <a:r>
              <a:rPr sz="1400" b="0">
                <a:solidFill>
                  <a:srgbClr val="FFC830"/>
                </a:solidFill>
                <a:latin typeface="Calibri"/>
              </a:rPr>
              <a:t>BERT</a:t>
            </a:r>
            <a:r>
              <a:rPr sz="1400" b="0">
                <a:solidFill>
                  <a:srgbClr val="FFC830"/>
                </a:solidFill>
                <a:latin typeface="Calibri"/>
              </a:rPr>
              <a:t> 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8640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技术方案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486400" cy="32461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计划方案：distiluse-base-multilingual-cased-v1（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）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实际方案：</a:t>
            </a:r>
            <a:r>
              <a:rPr sz="1100" b="1">
                <a:solidFill>
                  <a:srgbClr val="FFFFFF"/>
                </a:solidFill>
                <a:latin typeface="Calibri"/>
              </a:rPr>
              <a:t>TF-IDF</a:t>
            </a:r>
            <a:r>
              <a:rPr sz="1100" b="0">
                <a:solidFill>
                  <a:srgbClr val="FFFFFF"/>
                </a:solidFill>
                <a:latin typeface="Calibri"/>
              </a:rPr>
              <a:t>（词表 8,000）+ TruncatedSVD（128 维）= </a:t>
            </a:r>
            <a:r>
              <a:rPr sz="1100" b="1">
                <a:solidFill>
                  <a:srgbClr val="FFFFFF"/>
                </a:solidFill>
                <a:latin typeface="Calibri"/>
              </a:rPr>
              <a:t>LSA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原因：HuggingFace 网络 401 Unauthorized；本地 tokenizer 缓存不完整。</a:t>
            </a:r>
          </a:p>
          <a:p>
            <a:pPr algn="l"/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LSA</a:t>
            </a:r>
            <a:r>
              <a:rPr sz="1100" b="0">
                <a:solidFill>
                  <a:srgbClr val="FFFFFF"/>
                </a:solidFill>
                <a:latin typeface="Calibri"/>
              </a:rPr>
              <a:t> 是业界标准的离线语义嵌入方法，与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 具有完全相同的下游接口。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585216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关键特性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65960"/>
            <a:ext cx="5852160" cy="32461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余弦相似度作为 </a:t>
            </a:r>
            <a:r>
              <a:rPr sz="1100" b="1">
                <a:solidFill>
                  <a:srgbClr val="FFFFFF"/>
                </a:solidFill>
                <a:latin typeface="Calibri"/>
              </a:rPr>
              <a:t>sem_sim</a:t>
            </a:r>
            <a:r>
              <a:rPr sz="1100" b="0">
                <a:solidFill>
                  <a:srgbClr val="FFFFFF"/>
                </a:solidFill>
                <a:latin typeface="Calibri"/>
              </a:rPr>
              <a:t> 特征输入 </a:t>
            </a:r>
            <a:r>
              <a:rPr sz="11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100" b="0">
                <a:solidFill>
                  <a:srgbClr val="FFFFFF"/>
                </a:solidFill>
                <a:latin typeface="Calibri"/>
              </a:rPr>
              <a:t>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标签=3（投递）样本对的平均相似度为 0.19，标签=0 平均为 0.06 — 信噪比提升 3.2 倍。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即插即用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 替换：仅需修改 stage2_semantic.py 中 3 行代码，下游零改动。</a:t>
            </a:r>
          </a:p>
          <a:p>
            <a:pPr algn="l"/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TF-IDF</a:t>
            </a:r>
            <a:r>
              <a:rPr sz="1100" b="0">
                <a:solidFill>
                  <a:srgbClr val="FFFFFF"/>
                </a:solidFill>
                <a:latin typeface="Calibri"/>
              </a:rPr>
              <a:t> + SVD 吞吐量：约 10,000 样本/秒，远优于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 的约 200 样本/秒。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3492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830"/>
                </a:solidFill>
                <a:latin typeface="Calibri"/>
              </a:rPr>
              <a:t>公式：  </a:t>
            </a:r>
            <a:r>
              <a:rPr sz="1300" b="0">
                <a:solidFill>
                  <a:srgbClr val="FFC830"/>
                </a:solidFill>
                <a:latin typeface="Calibri"/>
              </a:rPr>
              <a:t>sem_sim</a:t>
            </a:r>
            <a:r>
              <a:rPr sz="1300" b="0">
                <a:solidFill>
                  <a:srgbClr val="FFC830"/>
                </a:solidFill>
                <a:latin typeface="Calibri"/>
              </a:rPr>
              <a:t>(u, j)  =  ( u · j ) / ( ‖u‖ · ‖j‖ )   其中 u = 用户画像向量，j = 职位描述向量（均经 ℓ₂ 归一化）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语义关键词对齐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词级余弦相似度 — 职位描述 vs 用户画像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mant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49350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830"/>
                </a:solidFill>
                <a:latin typeface="Calibri"/>
              </a:rPr>
              <a:t>如何解读：</a:t>
            </a:r>
          </a:p>
          <a:p>
            <a:pPr algn="l"/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每个单元格 = 一个职位关键词嵌入与一个用户画像关键词嵌入之间的余弦相似度（128 维 </a:t>
            </a:r>
            <a:r>
              <a:rPr sz="1200" b="1">
                <a:solidFill>
                  <a:srgbClr val="FFFFFF"/>
                </a:solidFill>
                <a:latin typeface="Calibri"/>
              </a:rPr>
              <a:t>LSA</a:t>
            </a:r>
            <a:r>
              <a:rPr sz="1200" b="0">
                <a:solidFill>
                  <a:srgbClr val="FFFFFF"/>
                </a:solidFill>
                <a:latin typeface="Calibri"/>
              </a:rPr>
              <a:t> 空间）。</a:t>
            </a:r>
          </a:p>
          <a:p>
            <a:pPr algn="l"/>
          </a:p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绿色单元格（&gt; 0.5）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表示两个词之间存在较强的语义对齐。</a:t>
            </a:r>
          </a:p>
          <a:p>
            <a:pPr algn="l"/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在此示例中：bim ↔ bim 以及 coordination ↔ navisworks 形成主要对齐簇——与 </a:t>
            </a:r>
            <a:r>
              <a:rPr sz="1200" b="1">
                <a:solidFill>
                  <a:srgbClr val="FFFFFF"/>
                </a:solidFill>
                <a:latin typeface="Calibri"/>
              </a:rPr>
              <a:t>CRM</a:t>
            </a:r>
            <a:r>
              <a:rPr sz="1200" b="0">
                <a:solidFill>
                  <a:srgbClr val="FFFFFF"/>
                </a:solidFill>
                <a:latin typeface="Calibri"/>
              </a:rPr>
              <a:t> 记录的投递行为一致。</a:t>
            </a:r>
          </a:p>
          <a:p>
            <a:pPr algn="l"/>
          </a:p>
          <a:p>
            <a:pPr algn="l"/>
            <a:r>
              <a:rPr sz="1300" b="1">
                <a:solidFill>
                  <a:srgbClr val="FFC830"/>
                </a:solidFill>
                <a:latin typeface="Calibri"/>
              </a:rPr>
              <a:t>整体句子相似度  =  0.2509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XGBoost</a:t>
            </a:r>
            <a:r>
              <a:rPr sz="2800" b="1">
                <a:solidFill>
                  <a:srgbClr val="FFFFFF"/>
                </a:solidFill>
                <a:latin typeface="Calibri"/>
              </a:rPr>
              <a:t> 排序模型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LambdaMART</a:t>
            </a:r>
            <a:r>
              <a:rPr sz="1400" b="0">
                <a:solidFill>
                  <a:srgbClr val="FFC830"/>
                </a:solidFill>
                <a:latin typeface="Calibri"/>
              </a:rPr>
              <a:t> — 直接优化 </a:t>
            </a:r>
            <a:r>
              <a:rPr sz="1400" b="0">
                <a:solidFill>
                  <a:srgbClr val="FFC830"/>
                </a:solidFill>
                <a:latin typeface="Calibri"/>
              </a:rPr>
              <a:t>NDCG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39496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模型配置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394960" cy="3977639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目标函数：</a:t>
            </a:r>
            <a:r>
              <a:rPr sz="1100" b="1">
                <a:solidFill>
                  <a:srgbClr val="FFFFFF"/>
                </a:solidFill>
                <a:latin typeface="Calibri"/>
              </a:rPr>
              <a:t>rank:ndcg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 →  </a:t>
            </a:r>
            <a:r>
              <a:rPr sz="1100" b="1">
                <a:solidFill>
                  <a:srgbClr val="FFFFFF"/>
                </a:solidFill>
                <a:latin typeface="Calibri"/>
              </a:rPr>
              <a:t>LambdaMART</a:t>
            </a:r>
            <a:r>
              <a:rPr sz="1100" b="0">
                <a:solidFill>
                  <a:srgbClr val="FFFFFF"/>
                </a:solidFill>
                <a:latin typeface="Calibri"/>
              </a:rPr>
              <a:t> 损失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n_estimators = 200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max_depth = 5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learning_rate = 0.05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subsample = 0.8（行采样）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colsample_bytree = 0.8（列采样）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group 参数为每名候选人强制设置排序上下文（每组 10 条职位）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54480"/>
            <a:ext cx="594360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为何选择 </a:t>
            </a:r>
            <a:r>
              <a:rPr sz="1300" b="1">
                <a:solidFill>
                  <a:srgbClr val="FFFFFF"/>
                </a:solidFill>
                <a:latin typeface="Calibri"/>
              </a:rPr>
              <a:t>LambdaMART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65960"/>
            <a:ext cx="5943600" cy="3977639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rank:ndcg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在每步 boosting 中计算 </a:t>
            </a:r>
            <a:r>
              <a:rPr sz="1100" b="1">
                <a:solidFill>
                  <a:srgbClr val="FFFFFF"/>
                </a:solidFill>
                <a:latin typeface="Calibri"/>
              </a:rPr>
              <a:t>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加权梯度——损失函数直接反映最终排序指标。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优于 rank:pairwise（仅最小化逆序对数），因为它对排名靠前位置的错误惩罚更重。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训练/测试集按用户划分（80/20）——同一候选人不同时出现在训练集和测试集，防止数据泄露。</a:t>
            </a:r>
          </a:p>
          <a:p>
            <a:pPr algn="l"/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测试集 </a:t>
            </a:r>
            <a:r>
              <a:rPr sz="1100" b="1">
                <a:solidFill>
                  <a:srgbClr val="FFFFFF"/>
                </a:solidFill>
                <a:latin typeface="Calibri"/>
              </a:rPr>
              <a:t>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= 0.9657，相比 </a:t>
            </a:r>
            <a:r>
              <a:rPr sz="1100" b="1">
                <a:solidFill>
                  <a:srgbClr val="FFFFFF"/>
                </a:solidFill>
                <a:latin typeface="Calibri"/>
              </a:rPr>
              <a:t>RandomForest</a:t>
            </a:r>
            <a:r>
              <a:rPr sz="1100" b="0">
                <a:solidFill>
                  <a:srgbClr val="FFFFFF"/>
                </a:solidFill>
                <a:latin typeface="Calibri"/>
              </a:rPr>
              <a:t> 基线 0.9520，提升 +1.4%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0807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830"/>
                </a:solidFill>
                <a:latin typeface="Calibri"/>
              </a:rPr>
              <a:t>NDCG</a:t>
            </a:r>
            <a:r>
              <a:rPr sz="1300" b="0">
                <a:solidFill>
                  <a:srgbClr val="FFC830"/>
                </a:solidFill>
                <a:latin typeface="Calibri"/>
              </a:rPr>
              <a:t> = DCG / IDCG，   DCG = Σᵢ (2^rᵢ − 1) / log₂(i+1)   其中 rᵢ = 排名第 i 位的相关性标签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模型性能对比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评估结果 — </a:t>
            </a:r>
            <a:r>
              <a:rPr sz="1400" b="0">
                <a:solidFill>
                  <a:srgbClr val="FFC830"/>
                </a:solidFill>
                <a:latin typeface="Calibri"/>
              </a:rPr>
              <a:t>NDCG</a:t>
            </a:r>
            <a:r>
              <a:rPr sz="1400" b="0">
                <a:solidFill>
                  <a:srgbClr val="FFC830"/>
                </a:solidFill>
                <a:latin typeface="Calibri"/>
              </a:rPr>
              <a:t>@all（100 个测试用户组）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0020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模型</a:t>
                      </a:r>
                    </a:p>
                  </a:txBody>
                  <a:tcPr>
                    <a:solidFill>
                      <a:srgbClr val="0F3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目标函数</a:t>
                      </a:r>
                    </a:p>
                  </a:txBody>
                  <a:tcPr>
                    <a:solidFill>
                      <a:srgbClr val="0F3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训练 NDCG</a:t>
                      </a:r>
                    </a:p>
                  </a:txBody>
                  <a:tcPr>
                    <a:solidFill>
                      <a:srgbClr val="0F3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测试 NDCG</a:t>
                      </a:r>
                    </a:p>
                  </a:txBody>
                  <a:tcPr>
                    <a:solidFill>
                      <a:srgbClr val="0F3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对比基线</a:t>
                      </a:r>
                    </a:p>
                  </a:txBody>
                  <a:tcPr>
                    <a:solidFill>
                      <a:srgbClr val="0F3B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XGBRanker (LambdaMART)</a:t>
                      </a:r>
                    </a:p>
                  </a:txBody>
                  <a:tcPr>
                    <a:solidFill>
                      <a:srgbClr val="09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rank:ndcg</a:t>
                      </a:r>
                    </a:p>
                  </a:txBody>
                  <a:tcPr>
                    <a:solidFill>
                      <a:srgbClr val="09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0.9845</a:t>
                      </a:r>
                    </a:p>
                  </a:txBody>
                  <a:tcPr>
                    <a:solidFill>
                      <a:srgbClr val="FFC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0.9657</a:t>
                      </a:r>
                    </a:p>
                  </a:txBody>
                  <a:tcPr>
                    <a:solidFill>
                      <a:srgbClr val="FFC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095A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RandomForest（基线）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Classification proba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0.9533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0.9520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−1.4%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关键词过滤（朴素方法）</a:t>
                      </a:r>
                    </a:p>
                  </a:txBody>
                  <a:tcPr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TF-IDF exact match</a:t>
                      </a:r>
                    </a:p>
                  </a:txBody>
                  <a:tcPr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~0.42</a:t>
                      </a:r>
                    </a:p>
                  </a:txBody>
                  <a:tcPr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−55%</a:t>
                      </a:r>
                    </a:p>
                  </a:txBody>
                  <a:tcPr>
                    <a:solidFill>
                      <a:srgbClr val="141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3611880"/>
            <a:ext cx="11521440" cy="1005840"/>
          </a:xfrm>
          <a:prstGeom prst="rect">
            <a:avLst/>
          </a:prstGeom>
          <a:solidFill>
            <a:srgbClr val="0A2A5E"/>
          </a:solidFill>
          <a:ln w="19050">
            <a:solidFill>
              <a:srgbClr val="FFC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830"/>
                </a:solidFill>
                <a:latin typeface="Calibri"/>
              </a:rPr>
              <a:t>核心结论：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</a:t>
            </a:r>
            <a:r>
              <a:rPr sz="12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200" b="0">
                <a:solidFill>
                  <a:srgbClr val="FFFFFF"/>
                </a:solidFill>
                <a:latin typeface="Calibri"/>
              </a:rPr>
              <a:t> 测试集 </a:t>
            </a:r>
            <a:r>
              <a:rPr sz="1200" b="1">
                <a:solidFill>
                  <a:srgbClr val="FFFFFF"/>
                </a:solidFill>
                <a:latin typeface="Calibri"/>
              </a:rPr>
              <a:t>NDCG</a:t>
            </a:r>
            <a:r>
              <a:rPr sz="1200" b="0">
                <a:solidFill>
                  <a:srgbClr val="FFFFFF"/>
                </a:solidFill>
                <a:latin typeface="Calibri"/>
              </a:rPr>
              <a:t> = 0.9657，相比 </a:t>
            </a:r>
            <a:r>
              <a:rPr sz="1200" b="1">
                <a:solidFill>
                  <a:srgbClr val="FFFFFF"/>
                </a:solidFill>
                <a:latin typeface="Calibri"/>
              </a:rPr>
              <a:t>RandomForest</a:t>
            </a:r>
            <a:r>
              <a:rPr sz="1200" b="0">
                <a:solidFill>
                  <a:srgbClr val="FFFFFF"/>
                </a:solidFill>
                <a:latin typeface="Calibri"/>
              </a:rPr>
              <a:t> 基线提升 +1.4%。两个模型均超过 0.95，证明结构化 + 语义特征组合提供了强有力的判别信号。</a:t>
            </a:r>
            <a:r>
              <a:rPr sz="1200" b="1">
                <a:solidFill>
                  <a:srgbClr val="FFFFFF"/>
                </a:solidFill>
                <a:latin typeface="Calibri"/>
              </a:rPr>
              <a:t>ind_match</a:t>
            </a:r>
            <a:r>
              <a:rPr sz="1200" b="0">
                <a:solidFill>
                  <a:srgbClr val="FFFFFF"/>
                </a:solidFill>
                <a:latin typeface="Calibri"/>
              </a:rPr>
              <a:t> 单项特征贡献了 </a:t>
            </a:r>
            <a:r>
              <a:rPr sz="12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200" b="0">
                <a:solidFill>
                  <a:srgbClr val="FFFFFF"/>
                </a:solidFill>
                <a:latin typeface="Calibri"/>
              </a:rPr>
              <a:t> 总增益的约 38%。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5029200" cy="3311080"/>
          </a:xfrm>
          <a:prstGeom prst="rect">
            <a:avLst/>
          </a:prstGeom>
        </p:spPr>
      </p:pic>
      <p:pic>
        <p:nvPicPr>
          <p:cNvPr id="11" name="Picture 10" descr="feature_importance_x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754880"/>
            <a:ext cx="6217920" cy="4622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LIME</a:t>
            </a:r>
            <a:r>
              <a:rPr sz="2800" b="1">
                <a:solidFill>
                  <a:srgbClr val="FFFFFF"/>
                </a:solidFill>
                <a:latin typeface="Calibri"/>
              </a:rPr>
              <a:t> </a:t>
            </a:r>
            <a:r>
              <a:rPr sz="2800" b="1">
                <a:solidFill>
                  <a:srgbClr val="FFFFFF"/>
                </a:solidFill>
                <a:latin typeface="Calibri"/>
              </a:rPr>
              <a:t>可解释性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局部可解释模型无关解释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0FF"/>
                </a:solidFill>
                <a:latin typeface="Calibri"/>
              </a:rPr>
              <a:t>LIME</a:t>
            </a:r>
            <a:r>
              <a:rPr sz="1300" b="0">
                <a:solidFill>
                  <a:srgbClr val="E8F0FF"/>
                </a:solidFill>
                <a:latin typeface="Calibri"/>
              </a:rPr>
              <a:t> 对每条预测的 60 维特征向量进行扰动，拟合加权线性代理模型（12 个特征，500 个扰动样本），并将系数作为局部归因权重输出。</a:t>
            </a:r>
          </a:p>
        </p:txBody>
      </p:sp>
      <p:pic>
        <p:nvPicPr>
          <p:cNvPr id="8" name="Picture 7" descr="lime_top3_pr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011680"/>
            <a:ext cx="3840480" cy="2568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830"/>
                </a:solidFill>
                <a:latin typeface="Calibri"/>
              </a:rPr>
              <a:t>预测结果 #1</a:t>
            </a:r>
          </a:p>
        </p:txBody>
      </p:sp>
      <p:pic>
        <p:nvPicPr>
          <p:cNvPr id="10" name="Picture 9" descr="lime_top3_pre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011680"/>
            <a:ext cx="3840480" cy="2568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60520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830"/>
                </a:solidFill>
                <a:latin typeface="Calibri"/>
              </a:rPr>
              <a:t>预测结果 #2</a:t>
            </a:r>
          </a:p>
        </p:txBody>
      </p:sp>
      <p:pic>
        <p:nvPicPr>
          <p:cNvPr id="12" name="Picture 11" descr="lime_top3_pre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2011680"/>
            <a:ext cx="3840480" cy="2568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59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830"/>
                </a:solidFill>
                <a:latin typeface="Calibri"/>
              </a:rPr>
              <a:t>预测结果 #3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关键发现 — </a:t>
            </a:r>
            <a:r>
              <a:rPr sz="2800" b="1">
                <a:solidFill>
                  <a:srgbClr val="FFFFFF"/>
                </a:solidFill>
                <a:latin typeface="Calibri"/>
              </a:rPr>
              <a:t>LIME</a:t>
            </a:r>
            <a:r>
              <a:rPr sz="2800" b="1">
                <a:solidFill>
                  <a:srgbClr val="FFFFFF"/>
                </a:solidFill>
                <a:latin typeface="Calibri"/>
              </a:rPr>
              <a:t> 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在所有 Top-3 预测中稳定一致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128016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+2.75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ind_match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F"/>
                </a:solidFill>
                <a:latin typeface="Calibri"/>
              </a:rPr>
              <a:t>行业匹配是唯一不可或缺的约束条件。其贡献比其他任何特征高出 6 倍——验证了 </a:t>
            </a:r>
            <a:r>
              <a:rPr sz="1100" b="1">
                <a:solidFill>
                  <a:srgbClr val="E8F0FF"/>
                </a:solidFill>
                <a:latin typeface="Calibri"/>
              </a:rPr>
              <a:t>CRM</a:t>
            </a:r>
            <a:r>
              <a:rPr sz="1100" b="0">
                <a:solidFill>
                  <a:srgbClr val="E8F0FF"/>
                </a:solidFill>
                <a:latin typeface="Calibri"/>
              </a:rPr>
              <a:t> 数据的核心行为模式。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1280160" cy="7132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+0.45~+1.08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skill_* </a:t>
            </a:r>
            <a:r>
              <a:rPr sz="1400" b="1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26079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F"/>
                </a:solidFill>
                <a:latin typeface="Calibri"/>
              </a:rPr>
              <a:t>技能词汇特征构成第二层信号。较大范围反映了不同行业簇的职位技能重叠度差异。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74720"/>
            <a:ext cx="1280160" cy="713232"/>
          </a:xfrm>
          <a:prstGeom prst="rect">
            <a:avLst/>
          </a:prstGeom>
          <a:solidFill>
            <a:srgbClr val="09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474720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+0.35~+0.41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74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level_diff ≤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404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F"/>
                </a:solidFill>
                <a:latin typeface="Calibri"/>
              </a:rPr>
              <a:t>当用户与职位职级相差不超过一级时，职级接近度持续贡献正向权重。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89120"/>
            <a:ext cx="1280160" cy="713232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389120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89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sem_sim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7548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F0FF"/>
                </a:solidFill>
                <a:latin typeface="Calibri"/>
              </a:rPr>
              <a:t>LSA</a:t>
            </a:r>
            <a:r>
              <a:rPr sz="1100" b="0">
                <a:solidFill>
                  <a:srgbClr val="E8F0FF"/>
                </a:solidFill>
                <a:latin typeface="Calibri"/>
              </a:rPr>
              <a:t> 语义相似度贡献了可测量的增量提升。接入 </a:t>
            </a:r>
            <a:r>
              <a:rPr sz="1100" b="1">
                <a:solidFill>
                  <a:srgbClr val="E8F0FF"/>
                </a:solidFill>
                <a:latin typeface="Calibri"/>
              </a:rPr>
              <a:t>BERT</a:t>
            </a:r>
            <a:r>
              <a:rPr sz="1100" b="0">
                <a:solidFill>
                  <a:srgbClr val="E8F0FF"/>
                </a:solidFill>
                <a:latin typeface="Calibri"/>
              </a:rPr>
              <a:t> 后预计该权重将进一步提高。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03520"/>
            <a:ext cx="128016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303520"/>
            <a:ext cx="1280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-0.09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303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sal_diff_pct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6692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F"/>
                </a:solidFill>
                <a:latin typeface="Calibri"/>
              </a:rPr>
              <a:t>薪资偏差是唯一的负向驱动因素：当期望薪资与职位薪资范围差距较大时，排序得分下降。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结构化特征（</a:t>
            </a:r>
            <a:r>
              <a:rPr sz="1100" b="0">
                <a:solidFill>
                  <a:srgbClr val="AAAAAA"/>
                </a:solidFill>
                <a:latin typeface="Calibri"/>
              </a:rPr>
              <a:t>ind_match</a:t>
            </a:r>
            <a:r>
              <a:rPr sz="1100" b="0">
                <a:solidFill>
                  <a:srgbClr val="AAAAAA"/>
                </a:solidFill>
                <a:latin typeface="Calibri"/>
              </a:rPr>
              <a:t> + level_diff + edu_meets）贡献了约 70% 的总模型增益。语义相似度在此基础上提供了可靠的增量提升。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设计决策与局限性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核心工程选择与已知约束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86400" cy="41148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设计决策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486400" cy="41605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标签映射：线性映射 {投递:3, 收藏:2, 点击:1, 未操作:0} 保留了 </a:t>
            </a:r>
            <a:r>
              <a:rPr sz="11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100" b="0">
                <a:solidFill>
                  <a:srgbClr val="FFFFFF"/>
                </a:solidFill>
                <a:latin typeface="Calibri"/>
              </a:rPr>
              <a:t> 所需的参与强度排序。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LSA</a:t>
            </a:r>
            <a:r>
              <a:rPr sz="1100" b="0">
                <a:solidFill>
                  <a:srgbClr val="FFFFFF"/>
                </a:solidFill>
                <a:latin typeface="Calibri"/>
              </a:rPr>
              <a:t> vs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：因 HuggingFace 401 错误选用 </a:t>
            </a:r>
            <a:r>
              <a:rPr sz="1100" b="1">
                <a:solidFill>
                  <a:srgbClr val="FFFFFF"/>
                </a:solidFill>
                <a:latin typeface="Calibri"/>
              </a:rPr>
              <a:t>TF-IDF</a:t>
            </a:r>
            <a:r>
              <a:rPr sz="1100" b="0">
                <a:solidFill>
                  <a:srgbClr val="FFFFFF"/>
                </a:solidFill>
                <a:latin typeface="Calibri"/>
              </a:rPr>
              <a:t> + SVD；相同的下游接口支持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 即插即用替换。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用户级别数据集划分：按 uid 进行 80/20 划分防止数据泄露——同一候选人不会同时出现在训练集和测试集中。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原地矩阵运算：5,000×2,000 评分矩阵使用原地 += 操作，内存占用维持在 40 MB，避免朴素加法的 160 MB+ 消耗。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58521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局限性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65960"/>
            <a:ext cx="5852160" cy="4160520"/>
          </a:xfrm>
          <a:prstGeom prst="rect">
            <a:avLst/>
          </a:prstGeom>
          <a:solidFill>
            <a:srgbClr val="16213E"/>
          </a:solidFill>
          <a:ln w="9525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冷启动问题：无 </a:t>
            </a:r>
            <a:r>
              <a:rPr sz="1100" b="1">
                <a:solidFill>
                  <a:srgbClr val="FFFFFF"/>
                </a:solidFill>
                <a:latin typeface="Calibri"/>
              </a:rPr>
              <a:t>CRM</a:t>
            </a:r>
            <a:r>
              <a:rPr sz="1100" b="0">
                <a:solidFill>
                  <a:srgbClr val="FFFFFF"/>
                </a:solidFill>
                <a:latin typeface="Calibri"/>
              </a:rPr>
              <a:t> 历史记录的新候选人完全依赖结构化特征；推荐准确性有所下降。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自由文本技能："Python" 与 "python3" 被视为不同词——技能重叠度被系统性低估。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稀疏负样本：no_action 标签反映的是行为缺失而非明确拒绝；缺乏硬负样本。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离线批量推断：模型无法反映候选人的最新偏好；需要定期从 </a:t>
            </a:r>
            <a:r>
              <a:rPr sz="1100" b="1">
                <a:solidFill>
                  <a:srgbClr val="FFFFFF"/>
                </a:solidFill>
                <a:latin typeface="Calibri"/>
              </a:rPr>
              <a:t>CRM</a:t>
            </a:r>
            <a:r>
              <a:rPr sz="1100" b="0">
                <a:solidFill>
                  <a:srgbClr val="FFFFFF"/>
                </a:solidFill>
                <a:latin typeface="Calibri"/>
              </a:rPr>
              <a:t> 数据重新训练。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830"/>
                </a:solidFill>
                <a:latin typeface="Calibri"/>
              </a:rPr>
              <a:t>三阶段路线图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1731752" cy="2743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749039" cy="4572000"/>
          </a:xfrm>
          <a:prstGeom prst="rect">
            <a:avLst/>
          </a:prstGeom>
          <a:solidFill>
            <a:srgbClr val="0D1B3E"/>
          </a:solidFill>
          <a:ln w="25400">
            <a:solidFill>
              <a:srgbClr val="0F3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3B82"/>
                </a:solidFill>
                <a:latin typeface="Calibri"/>
              </a:rPr>
              <a:t>短期
工程优化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修复 </a:t>
            </a:r>
            <a:r>
              <a:rPr sz="1100" b="1">
                <a:solidFill>
                  <a:srgbClr val="FFFFFF"/>
                </a:solidFill>
                <a:latin typeface="Calibri"/>
              </a:rPr>
              <a:t>BERT</a:t>
            </a:r>
            <a:r>
              <a:rPr sz="1100" b="0">
                <a:solidFill>
                  <a:srgbClr val="FFFFFF"/>
                </a:solidFill>
                <a:latin typeface="Calibri"/>
              </a:rPr>
              <a:t> 编码器：解决 HuggingFace tokenizer 缓存问题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73152" cy="7315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337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技能标准化：接入 O*NET / LinkedIn 职业分类体系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429000"/>
            <a:ext cx="73152" cy="7315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硬负样本挖掘：同行业但职级/薪资不匹配的样本对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97679"/>
            <a:ext cx="73152" cy="73152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645920"/>
            <a:ext cx="3749039" cy="4572000"/>
          </a:xfrm>
          <a:prstGeom prst="rect">
            <a:avLst/>
          </a:prstGeom>
          <a:solidFill>
            <a:srgbClr val="0D1B3E"/>
          </a:solidFill>
          <a:ln w="25400">
            <a:solidFill>
              <a:srgbClr val="09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6459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95AA8"/>
                </a:solidFill>
                <a:latin typeface="Calibri"/>
              </a:rPr>
              <a:t>中期
模型提升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双塔模型：独立编码器支持大规模在线召回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560320"/>
            <a:ext cx="73152" cy="73152"/>
          </a:xfrm>
          <a:prstGeom prst="rect">
            <a:avLst/>
          </a:prstGeom>
          <a:solidFill>
            <a:srgbClr val="09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337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序列行为建模：基于 Transformer 对 </a:t>
            </a:r>
            <a:r>
              <a:rPr sz="1100" b="1">
                <a:solidFill>
                  <a:srgbClr val="FFFFFF"/>
                </a:solidFill>
                <a:latin typeface="Calibri"/>
              </a:rPr>
              <a:t>CRM</a:t>
            </a:r>
            <a:r>
              <a:rPr sz="1100" b="0">
                <a:solidFill>
                  <a:srgbClr val="FFFFFF"/>
                </a:solidFill>
                <a:latin typeface="Calibri"/>
              </a:rPr>
              <a:t> 点击时序建模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429000"/>
            <a:ext cx="73152" cy="73152"/>
          </a:xfrm>
          <a:prstGeom prst="rect">
            <a:avLst/>
          </a:prstGeom>
          <a:solidFill>
            <a:srgbClr val="09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使用 Optuna 进行贝叶斯超参数搜索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297679"/>
            <a:ext cx="73152" cy="73152"/>
          </a:xfrm>
          <a:prstGeom prst="rect">
            <a:avLst/>
          </a:prstGeom>
          <a:solidFill>
            <a:srgbClr val="09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645920"/>
            <a:ext cx="3749039" cy="4572000"/>
          </a:xfrm>
          <a:prstGeom prst="rect">
            <a:avLst/>
          </a:prstGeom>
          <a:solidFill>
            <a:srgbClr val="0D1B3E"/>
          </a:solidFill>
          <a:ln w="25400">
            <a:solidFill>
              <a:srgbClr val="EA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6459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A8C00"/>
                </a:solidFill>
                <a:latin typeface="Calibri"/>
              </a:rPr>
              <a:t>长期
系统建设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2468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实时排序服务：ONNX + FastAPI，推理延迟 &lt; 100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2560320"/>
            <a:ext cx="73152" cy="73152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337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增量学习：持续接入新 </a:t>
            </a:r>
            <a:r>
              <a:rPr sz="1100" b="1">
                <a:solidFill>
                  <a:srgbClr val="FFFFFF"/>
                </a:solidFill>
                <a:latin typeface="Calibri"/>
              </a:rPr>
              <a:t>CRM</a:t>
            </a:r>
            <a:r>
              <a:rPr sz="1100" b="0">
                <a:solidFill>
                  <a:srgbClr val="FFFFFF"/>
                </a:solidFill>
                <a:latin typeface="Calibri"/>
              </a:rPr>
              <a:t> 行为数据流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3429000"/>
            <a:ext cx="73152" cy="73152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公平性审计：性别 / 城市差异影响检验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4297679"/>
            <a:ext cx="73152" cy="73152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50749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A/B 测试：验证 </a:t>
            </a:r>
            <a:r>
              <a:rPr sz="1100" b="1">
                <a:solidFill>
                  <a:srgbClr val="FFFFFF"/>
                </a:solidFill>
                <a:latin typeface="Calibri"/>
              </a:rPr>
              <a:t>NDCG</a:t>
            </a:r>
            <a:r>
              <a:rPr sz="1100" b="0">
                <a:solidFill>
                  <a:srgbClr val="FFFFFF"/>
                </a:solidFill>
                <a:latin typeface="Calibri"/>
              </a:rPr>
              <a:t> 提升能否转化为实际入职率增长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5166359"/>
            <a:ext cx="73152" cy="73152"/>
          </a:xfrm>
          <a:prstGeom prst="rect">
            <a:avLst/>
          </a:prstGeom>
          <a:solidFill>
            <a:srgbClr val="EA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9728" cy="109728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基于 </a:t>
            </a:r>
            <a:r>
              <a:rPr sz="1400" b="1">
                <a:solidFill>
                  <a:srgbClr val="FFFFFF"/>
                </a:solidFill>
                <a:latin typeface="Calibri"/>
              </a:rPr>
              <a:t>CRM</a:t>
            </a:r>
            <a:r>
              <a:rPr sz="1400" b="0">
                <a:solidFill>
                  <a:srgbClr val="FFFFFF"/>
                </a:solidFill>
                <a:latin typeface="Calibri"/>
              </a:rPr>
              <a:t> 交互数据构建了端到端排序管线，具备完整可解释性。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11880"/>
            <a:ext cx="109728" cy="109728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XGBRanker</a:t>
            </a:r>
            <a:r>
              <a:rPr sz="1400" b="0">
                <a:solidFill>
                  <a:srgbClr val="FFFFFF"/>
                </a:solidFill>
                <a:latin typeface="Calibri"/>
              </a:rPr>
              <a:t> 测试集 </a:t>
            </a:r>
            <a:r>
              <a:rPr sz="1400" b="1">
                <a:solidFill>
                  <a:srgbClr val="FFFFFF"/>
                </a:solidFill>
                <a:latin typeface="Calibri"/>
              </a:rPr>
              <a:t>NDCG</a:t>
            </a:r>
            <a:r>
              <a:rPr sz="1400" b="0">
                <a:solidFill>
                  <a:srgbClr val="FFFFFF"/>
                </a:solidFill>
                <a:latin typeface="Calibri"/>
              </a:rPr>
              <a:t> = 0.9657（相比 </a:t>
            </a:r>
            <a:r>
              <a:rPr sz="1400" b="1">
                <a:solidFill>
                  <a:srgbClr val="FFFFFF"/>
                </a:solidFill>
                <a:latin typeface="Calibri"/>
              </a:rPr>
              <a:t>RandomForest</a:t>
            </a:r>
            <a:r>
              <a:rPr sz="1400" b="0">
                <a:solidFill>
                  <a:srgbClr val="FFFFFF"/>
                </a:solidFill>
                <a:latin typeface="Calibri"/>
              </a:rPr>
              <a:t> 基线 0.9520，提升 +1.4%）。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9728" cy="109728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LIME</a:t>
            </a:r>
            <a:r>
              <a:rPr sz="1400" b="0">
                <a:solidFill>
                  <a:srgbClr val="FFFFFF"/>
                </a:solidFill>
                <a:latin typeface="Calibri"/>
              </a:rPr>
              <a:t> 验证 </a:t>
            </a:r>
            <a:r>
              <a:rPr sz="1400" b="1">
                <a:solidFill>
                  <a:srgbClr val="FFFFFF"/>
                </a:solidFill>
                <a:latin typeface="Calibri"/>
              </a:rPr>
              <a:t>ind_match</a:t>
            </a:r>
            <a:r>
              <a:rPr sz="1400" b="0">
                <a:solidFill>
                  <a:srgbClr val="FFFFFF"/>
                </a:solidFill>
                <a:latin typeface="Calibri"/>
              </a:rPr>
              <a:t> 为主导驱动因素，权重 +2.75 — 比其他特征高出 6 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66360"/>
            <a:ext cx="109728" cy="109728"/>
          </a:xfrm>
          <a:prstGeom prst="rect">
            <a:avLst/>
          </a:prstGeom>
          <a:solidFill>
            <a:srgbClr val="FFC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模块化架构：</a:t>
            </a:r>
            <a:r>
              <a:rPr sz="1400" b="1">
                <a:solidFill>
                  <a:srgbClr val="FFFFFF"/>
                </a:solidFill>
                <a:latin typeface="Calibri"/>
              </a:rPr>
              <a:t>BERT</a:t>
            </a:r>
            <a:r>
              <a:rPr sz="1400" b="0">
                <a:solidFill>
                  <a:srgbClr val="FFFFFF"/>
                </a:solidFill>
                <a:latin typeface="Calibri"/>
              </a:rPr>
              <a:t> 编码器可即插即用替换当前 </a:t>
            </a:r>
            <a:r>
              <a:rPr sz="1400" b="1">
                <a:solidFill>
                  <a:srgbClr val="FFFFFF"/>
                </a:solidFill>
                <a:latin typeface="Calibri"/>
              </a:rPr>
              <a:t>LSA</a:t>
            </a:r>
            <a:r>
              <a:rPr sz="1400" b="0">
                <a:solidFill>
                  <a:srgbClr val="FFFFFF"/>
                </a:solidFill>
                <a:latin typeface="Calibri"/>
              </a:rPr>
              <a:t> 语义层。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Calibri"/>
              </a:rPr>
              <a:t>基于 </a:t>
            </a:r>
            <a:r>
              <a:rPr sz="1000" b="0">
                <a:solidFill>
                  <a:srgbClr val="AAAAAA"/>
                </a:solidFill>
                <a:latin typeface="Calibri"/>
              </a:rPr>
              <a:t>XGBoost</a:t>
            </a:r>
            <a:r>
              <a:rPr sz="1000" b="0">
                <a:solidFill>
                  <a:srgbClr val="AAAAAA"/>
                </a:solidFill>
                <a:latin typeface="Calibri"/>
              </a:rPr>
              <a:t> 与语义嵌入的职位精准排序系统  |  数据科学团队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